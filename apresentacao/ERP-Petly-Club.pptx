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ind"/>
      <p:regular r:id="rId201314"/>
    </p:embeddedFont>
    <p:embeddedFont>
      <p:font typeface="Hind Bold"/>
      <p:regular r:id="rId201315"/>
    </p:embeddedFont>
    <p:embeddedFont>
      <p:font typeface="Oxanium Bold"/>
      <p:regular r:id="rId201316"/>
    </p:embeddedFont>
    <p:embeddedFont>
      <p:font typeface="Rajdhani Bold"/>
      <p:regular r:id="rId201317"/>
    </p:embeddedFont>
    <p:embeddedFont>
      <p:font typeface="Share Tech Mono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A0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A0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405531"/>
            <a:ext cx="10972526" cy="7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6600" b="1" spc="-264" kern="100" dirty="0">
                <a:solidFill>
                  <a:srgbClr val="FFFFFF"/>
                </a:solidFill>
                <a:latin typeface="Oxanium Bold" pitchFamily="34" charset="0"/>
                <a:ea typeface="Oxanium Bold" pitchFamily="34" charset="-122"/>
                <a:cs typeface="Oxanium Bold" pitchFamily="34" charset="0"/>
              </a:rPr>
              <a:t>ERP Petly Club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609585" y="3385641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799979"/>
            <a:ext cx="10972526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Do modelo conceitual ao banco de dados implementado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5762129"/>
            <a:ext cx="11582110" cy="384770"/>
          </a:xfrm>
          <a:prstGeom prst="rect">
            <a:avLst/>
          </a:prstGeom>
          <a:noFill/>
          <a:ln/>
        </p:spPr>
        <p:txBody>
          <a:bodyPr wrap="none" lIns="0" tIns="101598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spc="22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0"/>
              </a:rPr>
              <a:t>Grupo 07 · Modelagem de Dados e Banco de Dados Relacional · Prof. Clóvis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809"/>
            <a:ext cx="6095848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b="1" spc="-53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0"/>
              </a:rPr>
              <a:t>O problema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1523962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271143"/>
            <a:ext cx="6095848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Pet shop com loja física e loja virtual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Mesmo estoque, sistemas e planilhas que não se comunicam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Cadastros duplicados, estoque desatualizado, retrabalho no financeiro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Venda aprovada no cartão confundida com dinheiro em caixa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0594" y="6458545"/>
            <a:ext cx="7749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25209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b="1" spc="-53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0"/>
              </a:rPr>
              <a:t>A solução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34878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761952"/>
            <a:ext cx="3855643" cy="177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Um banco único para os dois canais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Clube de compras: todo pedido tem cliente cadastrado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Estoque por lote, com validade e histórico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Financeiro separando autorizado de recebido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5466159"/>
            <a:ext cx="3855643" cy="655241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spc="22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0"/>
              </a:rPr>
              <a:t>16 tabelas · 21 FKs · 7 visões · 5 gatilhos · PostgreSQL 16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2317" y="1604367"/>
            <a:ext cx="6659793" cy="47456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17684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b="1" spc="-42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0"/>
              </a:rPr>
              <a:t>Decisão 1 — Estoque com histórico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09585" y="1226443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74527"/>
            <a:ext cx="701022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B23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Problema: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 a quantidade era sobrescrita a cada venda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2985790"/>
            <a:ext cx="7010225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B23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Decisão:</a:t>
            </a:r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 LOTE + MOVIMENTACAO_ESTOQUE (entrada, reserva, venda, perda...)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4575671"/>
            <a:ext cx="701022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B23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Por quê: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 saldo = soma das movimentações; nada é apagado (RN19)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5786934"/>
            <a:ext cx="701022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B23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Se fosse diferente: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 impossível explicar perdas e diferenças de estoque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6998" y="1482030"/>
            <a:ext cx="3505112" cy="486797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9585" y="2509044"/>
            <a:ext cx="7010225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0" name="Shape 7"/>
          <p:cNvSpPr/>
          <p:nvPr/>
        </p:nvSpPr>
        <p:spPr>
          <a:xfrm>
            <a:off x="609585" y="4098925"/>
            <a:ext cx="7010225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1" name="Shape 8"/>
          <p:cNvSpPr/>
          <p:nvPr/>
        </p:nvSpPr>
        <p:spPr>
          <a:xfrm>
            <a:off x="609585" y="5310188"/>
            <a:ext cx="7010225" cy="12700"/>
          </a:xfrm>
          <a:prstGeom prst="rect">
            <a:avLst/>
          </a:prstGeom>
          <a:solidFill>
            <a:srgbClr val="5A3A7A"/>
          </a:solidFill>
          <a:ln/>
        </p:spPr>
      </p:sp>
      <p:sp>
        <p:nvSpPr>
          <p:cNvPr id="12" name="Text 9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284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b="1" spc="-42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0"/>
              </a:rPr>
              <a:t>Decisão 2 — Venda ligada ao lote certo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09585" y="1328043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660055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B23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Problema:</a:t>
            </a:r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 vender um produto tirando de lote de outro produto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3162399"/>
            <a:ext cx="11582110" cy="57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200" dirty="0">
                <a:solidFill>
                  <a:srgbClr val="FFB23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Decisão:</a:t>
            </a:r>
            <a:pPr algn="l" indent="0" marL="0">
              <a:lnSpc>
                <a:spcPct val="118000"/>
              </a:lnSpc>
              <a:buNone/>
            </a:pPr>
            <a:r>
              <a:rPr lang="en-US" sz="32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 FK composta (id_lote, id_produto) → LOTE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09585" y="3917255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B23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Por quê:</a:t>
            </a:r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 o próprio banco recusa a combinação errada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585" y="5542062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5A3A7A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5797649"/>
            <a:ext cx="11582110" cy="450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Saída por FEFO: vence primeiro, sai primeiro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284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b="1" spc="-42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0"/>
              </a:rPr>
              <a:t>Decisão 3 — Normalização: derivado não é coluna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09585" y="1328043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678112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B23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Problema:</a:t>
            </a:r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 valor_total, subtotal e saldos gravados podiam ficar desatualizados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3180457"/>
            <a:ext cx="11582110" cy="540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dirty="0">
                <a:solidFill>
                  <a:srgbClr val="FFB23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Decisão:</a:t>
            </a:r>
            <a:pPr algn="l" indent="0" marL="0">
              <a:lnSpc>
                <a:spcPct val="118000"/>
              </a:lnSpc>
              <a:buNone/>
            </a:pPr>
            <a:r>
              <a:rPr lang="en-US" sz="30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 retirar as colunas (3FN) e calcular por visões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585" y="3899198"/>
            <a:ext cx="11582110" cy="450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Exemplo: v_pedido_total, v_lote_saldo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09585" y="5668367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5A3A7A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5923955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Preço praticado fica em ITEM_PEDIDO (o catálogo muda; a venda, não)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6884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b="1" spc="-42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0"/>
              </a:rPr>
              <a:t>Demonstração — o banco impede o erro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09585" y="1175643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31230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Tentativa: vender 1 unidade de um lote sem saldo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1879501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B23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Resultado: ERROR — Saldo insuficiente no lote 6 (RN07)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81845"/>
            <a:ext cx="4628240" cy="26034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585" y="5669855"/>
            <a:ext cx="5333867" cy="730945"/>
          </a:xfrm>
          <a:prstGeom prst="rect">
            <a:avLst/>
          </a:prstGeom>
          <a:solidFill>
            <a:srgbClr val="3D1466"/>
          </a:solidFill>
          <a:ln/>
        </p:spPr>
      </p:sp>
      <p:sp>
        <p:nvSpPr>
          <p:cNvPr id="8" name="Text 5"/>
          <p:cNvSpPr/>
          <p:nvPr/>
        </p:nvSpPr>
        <p:spPr>
          <a:xfrm>
            <a:off x="863578" y="5873055"/>
            <a:ext cx="5079873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23 comandos inválidos testados → 23 recusados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48244" y="5669855"/>
            <a:ext cx="5333867" cy="730945"/>
          </a:xfrm>
          <a:prstGeom prst="rect">
            <a:avLst/>
          </a:prstGeom>
          <a:solidFill>
            <a:srgbClr val="0B4F5C"/>
          </a:solidFill>
          <a:ln/>
        </p:spPr>
      </p:sp>
      <p:sp>
        <p:nvSpPr>
          <p:cNvPr id="10" name="Text 7"/>
          <p:cNvSpPr/>
          <p:nvPr/>
        </p:nvSpPr>
        <p:spPr>
          <a:xfrm>
            <a:off x="6502237" y="5873055"/>
            <a:ext cx="5079873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10 consultas de auditoria → 0 inconsistências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6884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b="1" spc="-42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0"/>
              </a:rPr>
              <a:t>Demonstração — informação para a gerência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09585" y="1175643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31230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Pergunta: quais produtos estão abaixo do estoque mínimo?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1933575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Resposta do banco: bolinha (0 de 15), tapete (6 de 8), arranhador (2 de 3)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81845"/>
            <a:ext cx="5418498" cy="30479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585" y="5820668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5A3A7A"/>
          </a:solidFill>
          <a:ln/>
        </p:spPr>
      </p:sp>
      <p:sp>
        <p:nvSpPr>
          <p:cNvPr id="8" name="Text 5"/>
          <p:cNvSpPr/>
          <p:nvPr/>
        </p:nvSpPr>
        <p:spPr>
          <a:xfrm>
            <a:off x="609585" y="6076255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Decisão: gerar a solicitação de compra pela maior falta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76009"/>
            <a:ext cx="11175720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b="1" spc="-53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0"/>
              </a:rPr>
              <a:t>Benefícios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07987" y="1399580"/>
            <a:ext cx="27938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Shape 2"/>
          <p:cNvSpPr/>
          <p:nvPr/>
        </p:nvSpPr>
        <p:spPr>
          <a:xfrm>
            <a:off x="507987" y="1655167"/>
            <a:ext cx="11175720" cy="1046659"/>
          </a:xfrm>
          <a:prstGeom prst="rect">
            <a:avLst/>
          </a:prstGeom>
          <a:solidFill>
            <a:srgbClr val="3D1466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1858367"/>
            <a:ext cx="10921727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Um cadastro só para os dois canais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7987" y="2854226"/>
            <a:ext cx="11175720" cy="1046659"/>
          </a:xfrm>
          <a:prstGeom prst="rect">
            <a:avLst/>
          </a:prstGeom>
          <a:solidFill>
            <a:srgbClr val="3D1466"/>
          </a:solidFill>
          <a:ln/>
        </p:spPr>
      </p:sp>
      <p:sp>
        <p:nvSpPr>
          <p:cNvPr id="7" name="Text 5"/>
          <p:cNvSpPr/>
          <p:nvPr/>
        </p:nvSpPr>
        <p:spPr>
          <a:xfrm>
            <a:off x="761981" y="3057426"/>
            <a:ext cx="10921727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Estoque confiável, com lote e validade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7987" y="4053284"/>
            <a:ext cx="11175720" cy="1046758"/>
          </a:xfrm>
          <a:prstGeom prst="rect">
            <a:avLst/>
          </a:prstGeom>
          <a:solidFill>
            <a:srgbClr val="0B4F5C"/>
          </a:solidFill>
          <a:ln/>
        </p:spPr>
      </p:sp>
      <p:sp>
        <p:nvSpPr>
          <p:cNvPr id="9" name="Text 7"/>
          <p:cNvSpPr/>
          <p:nvPr/>
        </p:nvSpPr>
        <p:spPr>
          <a:xfrm>
            <a:off x="761981" y="4256484"/>
            <a:ext cx="10921727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Fluxo de caixa real: autorizado × recebido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7987" y="5252442"/>
            <a:ext cx="11175720" cy="1046758"/>
          </a:xfrm>
          <a:prstGeom prst="rect">
            <a:avLst/>
          </a:prstGeom>
          <a:solidFill>
            <a:srgbClr val="0B4F5C"/>
          </a:solidFill>
          <a:ln/>
        </p:spPr>
      </p:sp>
      <p:sp>
        <p:nvSpPr>
          <p:cNvPr id="11" name="Text 9"/>
          <p:cNvSpPr/>
          <p:nvPr/>
        </p:nvSpPr>
        <p:spPr>
          <a:xfrm>
            <a:off x="761981" y="5455642"/>
            <a:ext cx="10921727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Regras críticas garantidas pelo banco, não pela boa vontade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17684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b="1" spc="-42" kern="100" dirty="0">
                <a:solidFill>
                  <a:srgbClr val="F6EEFB"/>
                </a:solidFill>
                <a:latin typeface="Rajdhani Bold" pitchFamily="34" charset="0"/>
                <a:ea typeface="Rajdhani Bold" pitchFamily="34" charset="-122"/>
                <a:cs typeface="Rajdhani Bold" pitchFamily="34" charset="0"/>
              </a:rPr>
              <a:t>Próximo passo — BI e IA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09585" y="1226443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FB23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10630"/>
            <a:ext cx="4206075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Dashboard da gerência (já funcionando com 3 meses de dados de teste)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3480197"/>
            <a:ext cx="4206075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B23F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IA: previsão de demanda de ração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3919041"/>
            <a:ext cx="420607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Dados: histórico de vendas + saldo dos lotes + prazo do fornecedor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5580459"/>
            <a:ext cx="420607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D6EE"/>
                </a:solidFill>
                <a:latin typeface="Hind" pitchFamily="34" charset="0"/>
                <a:ea typeface="Hind" pitchFamily="34" charset="-122"/>
                <a:cs typeface="Hind" pitchFamily="34" charset="0"/>
              </a:rPr>
              <a:t>Benefício: comprar na hora certa, menos ruptura e menos perda por validade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749" y="1482030"/>
            <a:ext cx="6309361" cy="48679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35608" y="6458545"/>
            <a:ext cx="3560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B6A3CC"/>
                </a:solidFill>
                <a:latin typeface="Share Tech Mono" pitchFamily="34" charset="0"/>
                <a:ea typeface="Share Tech Mono" pitchFamily="34" charset="-122"/>
                <a:cs typeface="Share Tech Mono" pitchFamily="34" charset="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2026-10-30T18:16:25Z</dcterms:created>
  <dcterms:modified xsi:type="dcterms:W3CDTF">2026-10-30T18:16:25Z</dcterms:modified>
</cp:coreProperties>
</file>